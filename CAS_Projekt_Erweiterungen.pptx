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B098E-72BE-AE41-A555-F415471B0F94}" v="3" dt="2026-07-20T09:40:58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33"/>
  </p:normalViewPr>
  <p:slideViewPr>
    <p:cSldViewPr snapToGrid="0" snapToObjects="1">
      <p:cViewPr varScale="1">
        <p:scale>
          <a:sx n="116" d="100"/>
          <a:sy n="116" d="100"/>
        </p:scale>
        <p:origin x="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linger Niklas - s2510455021" userId="6ea425b0-5910-42fe-91d8-016da0ddcc9e" providerId="ADAL" clId="{108ED526-C972-5892-8A1A-B3E7D0F38F9C}"/>
    <pc:docChg chg="undo custSel addSld modSld">
      <pc:chgData name="Etzlinger Niklas - s2510455021" userId="6ea425b0-5910-42fe-91d8-016da0ddcc9e" providerId="ADAL" clId="{108ED526-C972-5892-8A1A-B3E7D0F38F9C}" dt="2026-07-20T12:38:16.129" v="124" actId="2710"/>
      <pc:docMkLst>
        <pc:docMk/>
      </pc:docMkLst>
      <pc:sldChg chg="modSp mod">
        <pc:chgData name="Etzlinger Niklas - s2510455021" userId="6ea425b0-5910-42fe-91d8-016da0ddcc9e" providerId="ADAL" clId="{108ED526-C972-5892-8A1A-B3E7D0F38F9C}" dt="2026-07-20T09:36:09.973" v="17" actId="20577"/>
        <pc:sldMkLst>
          <pc:docMk/>
          <pc:sldMk cId="0" sldId="256"/>
        </pc:sldMkLst>
        <pc:spChg chg="mod">
          <ac:chgData name="Etzlinger Niklas - s2510455021" userId="6ea425b0-5910-42fe-91d8-016da0ddcc9e" providerId="ADAL" clId="{108ED526-C972-5892-8A1A-B3E7D0F38F9C}" dt="2026-07-20T09:36:09.973" v="17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Etzlinger Niklas - s2510455021" userId="6ea425b0-5910-42fe-91d8-016da0ddcc9e" providerId="ADAL" clId="{108ED526-C972-5892-8A1A-B3E7D0F38F9C}" dt="2026-07-20T09:36:20.354" v="18" actId="14100"/>
        <pc:sldMkLst>
          <pc:docMk/>
          <pc:sldMk cId="0" sldId="257"/>
        </pc:sldMkLst>
        <pc:spChg chg="mod">
          <ac:chgData name="Etzlinger Niklas - s2510455021" userId="6ea425b0-5910-42fe-91d8-016da0ddcc9e" providerId="ADAL" clId="{108ED526-C972-5892-8A1A-B3E7D0F38F9C}" dt="2026-07-20T09:36:20.354" v="18" actId="14100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Etzlinger Niklas - s2510455021" userId="6ea425b0-5910-42fe-91d8-016da0ddcc9e" providerId="ADAL" clId="{108ED526-C972-5892-8A1A-B3E7D0F38F9C}" dt="2026-07-20T09:37:35.410" v="27" actId="2710"/>
        <pc:sldMkLst>
          <pc:docMk/>
          <pc:sldMk cId="0" sldId="258"/>
        </pc:sldMkLst>
        <pc:spChg chg="mod">
          <ac:chgData name="Etzlinger Niklas - s2510455021" userId="6ea425b0-5910-42fe-91d8-016da0ddcc9e" providerId="ADAL" clId="{108ED526-C972-5892-8A1A-B3E7D0F38F9C}" dt="2026-07-20T09:37:35.410" v="27" actId="2710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new mod">
        <pc:chgData name="Etzlinger Niklas - s2510455021" userId="6ea425b0-5910-42fe-91d8-016da0ddcc9e" providerId="ADAL" clId="{108ED526-C972-5892-8A1A-B3E7D0F38F9C}" dt="2026-07-20T09:41:54.831" v="113" actId="1076"/>
        <pc:sldMkLst>
          <pc:docMk/>
          <pc:sldMk cId="2487526771" sldId="260"/>
        </pc:sldMkLst>
        <pc:spChg chg="add del mod">
          <ac:chgData name="Etzlinger Niklas - s2510455021" userId="6ea425b0-5910-42fe-91d8-016da0ddcc9e" providerId="ADAL" clId="{108ED526-C972-5892-8A1A-B3E7D0F38F9C}" dt="2026-07-20T09:40:57.892" v="71" actId="478"/>
          <ac:spMkLst>
            <pc:docMk/>
            <pc:sldMk cId="2487526771" sldId="260"/>
            <ac:spMk id="2" creationId="{1DC14F05-7A03-0805-5F5D-1315D8101940}"/>
          </ac:spMkLst>
        </pc:spChg>
        <pc:spChg chg="add del mod">
          <ac:chgData name="Etzlinger Niklas - s2510455021" userId="6ea425b0-5910-42fe-91d8-016da0ddcc9e" providerId="ADAL" clId="{108ED526-C972-5892-8A1A-B3E7D0F38F9C}" dt="2026-07-20T09:40:55.844" v="70" actId="478"/>
          <ac:spMkLst>
            <pc:docMk/>
            <pc:sldMk cId="2487526771" sldId="260"/>
            <ac:spMk id="3" creationId="{532AEB3B-F14E-AC82-25D1-946E08C55D82}"/>
          </ac:spMkLst>
        </pc:spChg>
        <pc:spChg chg="add del mod">
          <ac:chgData name="Etzlinger Niklas - s2510455021" userId="6ea425b0-5910-42fe-91d8-016da0ddcc9e" providerId="ADAL" clId="{108ED526-C972-5892-8A1A-B3E7D0F38F9C}" dt="2026-07-20T09:40:53.928" v="69" actId="478"/>
          <ac:spMkLst>
            <pc:docMk/>
            <pc:sldMk cId="2487526771" sldId="260"/>
            <ac:spMk id="4" creationId="{0B74A4EC-5E5D-4CBE-FF98-95235718B3F6}"/>
          </ac:spMkLst>
        </pc:spChg>
        <pc:spChg chg="add mod">
          <ac:chgData name="Etzlinger Niklas - s2510455021" userId="6ea425b0-5910-42fe-91d8-016da0ddcc9e" providerId="ADAL" clId="{108ED526-C972-5892-8A1A-B3E7D0F38F9C}" dt="2026-07-20T09:40:58.942" v="72"/>
          <ac:spMkLst>
            <pc:docMk/>
            <pc:sldMk cId="2487526771" sldId="260"/>
            <ac:spMk id="5" creationId="{C9F7C343-04BA-B3AB-729E-D88A136253BD}"/>
          </ac:spMkLst>
        </pc:spChg>
        <pc:spChg chg="add mod">
          <ac:chgData name="Etzlinger Niklas - s2510455021" userId="6ea425b0-5910-42fe-91d8-016da0ddcc9e" providerId="ADAL" clId="{108ED526-C972-5892-8A1A-B3E7D0F38F9C}" dt="2026-07-20T09:41:47.246" v="111" actId="1076"/>
          <ac:spMkLst>
            <pc:docMk/>
            <pc:sldMk cId="2487526771" sldId="260"/>
            <ac:spMk id="6" creationId="{6A3F9AAA-5383-0A57-AE47-AAC355ED12C8}"/>
          </ac:spMkLst>
        </pc:spChg>
        <pc:spChg chg="add mod">
          <ac:chgData name="Etzlinger Niklas - s2510455021" userId="6ea425b0-5910-42fe-91d8-016da0ddcc9e" providerId="ADAL" clId="{108ED526-C972-5892-8A1A-B3E7D0F38F9C}" dt="2026-07-20T09:41:54.831" v="113" actId="1076"/>
          <ac:spMkLst>
            <pc:docMk/>
            <pc:sldMk cId="2487526771" sldId="260"/>
            <ac:spMk id="7" creationId="{1B4D0E7F-5D19-75A0-6BFB-8B9DD861B59D}"/>
          </ac:spMkLst>
        </pc:spChg>
      </pc:sldChg>
      <pc:sldChg chg="delSp modSp mod">
        <pc:chgData name="Etzlinger Niklas - s2510455021" userId="6ea425b0-5910-42fe-91d8-016da0ddcc9e" providerId="ADAL" clId="{108ED526-C972-5892-8A1A-B3E7D0F38F9C}" dt="2026-07-20T12:38:16.129" v="124" actId="2710"/>
        <pc:sldMkLst>
          <pc:docMk/>
          <pc:sldMk cId="0" sldId="261"/>
        </pc:sldMkLst>
        <pc:spChg chg="mod">
          <ac:chgData name="Etzlinger Niklas - s2510455021" userId="6ea425b0-5910-42fe-91d8-016da0ddcc9e" providerId="ADAL" clId="{108ED526-C972-5892-8A1A-B3E7D0F38F9C}" dt="2026-07-20T12:38:16.129" v="124" actId="2710"/>
          <ac:spMkLst>
            <pc:docMk/>
            <pc:sldMk cId="0" sldId="261"/>
            <ac:spMk id="5" creationId="{00000000-0000-0000-0000-000000000000}"/>
          </ac:spMkLst>
        </pc:spChg>
        <pc:spChg chg="del">
          <ac:chgData name="Etzlinger Niklas - s2510455021" userId="6ea425b0-5910-42fe-91d8-016da0ddcc9e" providerId="ADAL" clId="{108ED526-C972-5892-8A1A-B3E7D0F38F9C}" dt="2026-07-20T12:38:04.230" v="119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Etzlinger Niklas - s2510455021" userId="6ea425b0-5910-42fe-91d8-016da0ddcc9e" providerId="ADAL" clId="{108ED526-C972-5892-8A1A-B3E7D0F38F9C}" dt="2026-07-20T12:38:03.395" v="118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Etzlinger Niklas - s2510455021" userId="6ea425b0-5910-42fe-91d8-016da0ddcc9e" providerId="ADAL" clId="{108ED526-C972-5892-8A1A-B3E7D0F38F9C}" dt="2026-07-20T12:38:04.821" v="120" actId="478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Etzlinger Niklas - s2510455021" userId="6ea425b0-5910-42fe-91d8-016da0ddcc9e" providerId="ADAL" clId="{108ED526-C972-5892-8A1A-B3E7D0F38F9C}" dt="2026-07-20T12:38:01.565" v="117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Etzlinger Niklas - s2510455021" userId="6ea425b0-5910-42fe-91d8-016da0ddcc9e" providerId="ADAL" clId="{108ED526-C972-5892-8A1A-B3E7D0F38F9C}" dt="2026-07-20T12:38:06.953" v="121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Etzlinger Niklas - s2510455021" userId="6ea425b0-5910-42fe-91d8-016da0ddcc9e" providerId="ADAL" clId="{108ED526-C972-5892-8A1A-B3E7D0F38F9C}" dt="2026-07-20T12:37:59.285" v="115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Etzlinger Niklas - s2510455021" userId="6ea425b0-5910-42fe-91d8-016da0ddcc9e" providerId="ADAL" clId="{108ED526-C972-5892-8A1A-B3E7D0F38F9C}" dt="2026-07-20T12:38:07.638" v="122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Etzlinger Niklas - s2510455021" userId="6ea425b0-5910-42fe-91d8-016da0ddcc9e" providerId="ADAL" clId="{108ED526-C972-5892-8A1A-B3E7D0F38F9C}" dt="2026-07-20T12:37:58.087" v="114" actId="478"/>
          <ac:spMkLst>
            <pc:docMk/>
            <pc:sldMk cId="0" sldId="261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1554480"/>
            <a:ext cx="5669280" cy="5669280"/>
          </a:xfrm>
          <a:prstGeom prst="ellipse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2212848"/>
            <a:ext cx="77724" cy="1847088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2176272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A8C7FA"/>
                </a:solidFill>
                <a:latin typeface="Arial"/>
              </a:rPr>
              <a:t>Location and Context aware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633472"/>
            <a:ext cx="9144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Erweiterung des CAS-Projekts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D3E3FD"/>
                </a:solidFill>
                <a:latin typeface="Arial"/>
              </a:rPr>
              <a:t>Neue Funktionen, kontextsensitive Karte und komplett neues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230368"/>
            <a:ext cx="10460736" cy="10972"/>
          </a:xfrm>
          <a:prstGeom prst="rect">
            <a:avLst/>
          </a:prstGeom>
          <a:solidFill>
            <a:srgbClr val="2A2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468112"/>
            <a:ext cx="1046073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AT" sz="1300" b="0" i="0" dirty="0">
                <a:solidFill>
                  <a:srgbClr val="8E9099"/>
                </a:solidFill>
                <a:latin typeface="Arial"/>
              </a:rPr>
              <a:t>Jonas Ruhland </a:t>
            </a:r>
            <a:r>
              <a:rPr lang="en-AT" sz="1300" dirty="0">
                <a:solidFill>
                  <a:srgbClr val="8E9099"/>
                </a:solidFill>
                <a:latin typeface="Arial"/>
              </a:rPr>
              <a:t> · </a:t>
            </a:r>
            <a:r>
              <a:rPr lang="de-AT" sz="1300" b="0" i="0" dirty="0">
                <a:solidFill>
                  <a:srgbClr val="8E9099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8E9099"/>
                </a:solidFill>
                <a:latin typeface="Arial"/>
              </a:rPr>
              <a:t>Niklas Etzlinger  ·  FH OÖ Hagenberg  · 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6692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0B57D0"/>
                </a:solidFill>
                <a:latin typeface="Arial"/>
              </a:rPr>
              <a:t>01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C1E"/>
                </a:solidFill>
                <a:latin typeface="Arial"/>
              </a:rPr>
              <a:t>Komplett neues UI im Google-Maps-Stil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72768"/>
            <a:ext cx="1234440" cy="4572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75104"/>
            <a:ext cx="10599879" cy="2968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lnSpc>
                <a:spcPct val="118000"/>
              </a:lnSpc>
              <a:spcAft>
                <a:spcPts val="1400"/>
              </a:spcAft>
              <a:buNone/>
            </a:pPr>
            <a:r>
              <a:rPr sz="16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Neues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Farbschema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Blau &amp; Weiß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im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hellen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, Schwarz &amp; Blau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im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dunklen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Modus –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durchgängig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über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Material 3</a:t>
            </a:r>
          </a:p>
          <a:p>
            <a:pPr marL="274320" indent="-274320">
              <a:lnSpc>
                <a:spcPct val="118000"/>
              </a:lnSpc>
              <a:spcAft>
                <a:spcPts val="1400"/>
              </a:spcAft>
              <a:buNone/>
            </a:pPr>
            <a:r>
              <a:rPr sz="16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Relikt-Bedienelemente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entfernt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Zoom- (+/–),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Himmelsrichtungs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- (N/S/W/O) und Debug-Buttons →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Bedienung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nur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noch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per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Geste</a:t>
            </a:r>
            <a:endParaRPr sz="1650" b="0" i="0" dirty="0">
              <a:solidFill>
                <a:srgbClr val="5F6368"/>
              </a:solidFill>
              <a:latin typeface="Arial"/>
            </a:endParaRPr>
          </a:p>
          <a:p>
            <a:pPr marL="274320" indent="-274320">
              <a:lnSpc>
                <a:spcPct val="118000"/>
              </a:lnSpc>
              <a:spcAft>
                <a:spcPts val="1400"/>
              </a:spcAft>
              <a:buNone/>
            </a:pPr>
            <a:r>
              <a:rPr sz="16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Kopfzeile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entfernt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die Karte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reicht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randlos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bis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zum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oberen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Bildschirmrand</a:t>
            </a:r>
            <a:endParaRPr sz="1650" b="0" i="0" dirty="0">
              <a:solidFill>
                <a:srgbClr val="5F6368"/>
              </a:solidFill>
              <a:latin typeface="Arial"/>
            </a:endParaRPr>
          </a:p>
          <a:p>
            <a:pPr marL="274320" indent="-274320">
              <a:lnSpc>
                <a:spcPct val="118000"/>
              </a:lnSpc>
              <a:spcAft>
                <a:spcPts val="1400"/>
              </a:spcAft>
              <a:buNone/>
            </a:pPr>
            <a:r>
              <a:rPr sz="16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Schwebende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Elemente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Suchleiste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oben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,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runde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Karten-Buttons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rechts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, Bottom Sheet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unten</a:t>
            </a:r>
            <a:endParaRPr sz="1650" b="0" i="0" dirty="0">
              <a:solidFill>
                <a:srgbClr val="5F6368"/>
              </a:solidFill>
              <a:latin typeface="Arial"/>
            </a:endParaRPr>
          </a:p>
          <a:p>
            <a:pPr marL="274320" indent="-274320">
              <a:lnSpc>
                <a:spcPct val="118000"/>
              </a:lnSpc>
              <a:spcAft>
                <a:spcPts val="1400"/>
              </a:spcAft>
              <a:buNone/>
            </a:pPr>
            <a:r>
              <a:rPr sz="16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Dark-/Light-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Umschalter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auf der Karte,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wechselt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System / Hell / Dunkel und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bleibt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gespeichert</a:t>
            </a:r>
            <a:endParaRPr sz="1650" b="0" i="0" dirty="0">
              <a:solidFill>
                <a:srgbClr val="5F6368"/>
              </a:solidFill>
              <a:latin typeface="Arial"/>
            </a:endParaRPr>
          </a:p>
          <a:p>
            <a:pPr marL="274320" indent="-274320">
              <a:lnSpc>
                <a:spcPct val="118000"/>
              </a:lnSpc>
              <a:spcAft>
                <a:spcPts val="1400"/>
              </a:spcAft>
              <a:buNone/>
            </a:pPr>
            <a:r>
              <a:rPr sz="16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Automatischer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 </a:t>
            </a:r>
            <a:r>
              <a:rPr sz="1650" b="1" i="0" dirty="0" err="1">
                <a:solidFill>
                  <a:srgbClr val="1A1C1E"/>
                </a:solidFill>
                <a:latin typeface="Arial"/>
              </a:rPr>
              <a:t>Kartenausschnitt</a:t>
            </a:r>
            <a:r>
              <a:rPr sz="16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beim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Start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passt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sich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die Karte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selbsttätig</a:t>
            </a:r>
            <a:r>
              <a:rPr sz="16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5F6368"/>
                </a:solidFill>
                <a:latin typeface="Arial"/>
              </a:rPr>
              <a:t>ein</a:t>
            </a:r>
            <a:endParaRPr sz="1650" b="0" i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623620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8E9099"/>
                </a:solidFill>
                <a:latin typeface="Arial"/>
              </a:rPr>
              <a:t>CAS-Projekt · Erweiterungen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3620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E909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6692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0B57D0"/>
                </a:solidFill>
                <a:latin typeface="Arial"/>
              </a:rPr>
              <a:t>02 · KONTEXT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>
                <a:solidFill>
                  <a:srgbClr val="1A1C1E"/>
                </a:solidFill>
                <a:latin typeface="Arial"/>
              </a:rPr>
              <a:t>Tag/Nacht-Karte über die Regel-Engine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72768"/>
            <a:ext cx="1234440" cy="4572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75104"/>
            <a:ext cx="10454335" cy="2116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lnSpc>
                <a:spcPct val="200000"/>
              </a:lnSpc>
              <a:spcAft>
                <a:spcPts val="1100"/>
              </a:spcAft>
              <a:buNone/>
            </a:pPr>
            <a:r>
              <a:rPr sz="15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550" b="1" i="0" dirty="0">
                <a:solidFill>
                  <a:srgbClr val="1A1C1E"/>
                </a:solidFill>
                <a:latin typeface="Arial"/>
              </a:rPr>
              <a:t>Echte Kartografie: 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neues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ColoredOSMPresSchema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mit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Wasser, Wald,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Straßenhierarchie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und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Gebäuden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– je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eine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Tag- und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eine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Nacht-Palette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statt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schwarzer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Linien</a:t>
            </a:r>
          </a:p>
          <a:p>
            <a:pPr marL="274320" indent="-274320">
              <a:lnSpc>
                <a:spcPct val="200000"/>
              </a:lnSpc>
              <a:spcAft>
                <a:spcPts val="1100"/>
              </a:spcAft>
              <a:buNone/>
            </a:pPr>
            <a:r>
              <a:rPr sz="15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550" b="1" i="0" dirty="0" err="1">
                <a:solidFill>
                  <a:srgbClr val="1A1C1E"/>
                </a:solidFill>
                <a:latin typeface="Arial"/>
              </a:rPr>
              <a:t>setColorMode</a:t>
            </a:r>
            <a:r>
              <a:rPr sz="1550" b="1" i="0" dirty="0">
                <a:solidFill>
                  <a:srgbClr val="1A1C1E"/>
                </a:solidFill>
                <a:latin typeface="Arial"/>
              </a:rPr>
              <a:t>() </a:t>
            </a:r>
            <a:r>
              <a:rPr sz="1550" b="1" i="0" dirty="0" err="1">
                <a:solidFill>
                  <a:srgbClr val="1A1C1E"/>
                </a:solidFill>
                <a:latin typeface="Arial"/>
              </a:rPr>
              <a:t>implementiert</a:t>
            </a:r>
            <a:r>
              <a:rPr sz="15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wechselt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die Palette und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zeichnet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die Karte neu </a:t>
            </a:r>
            <a:endParaRPr lang="de-AT" sz="1550" b="0" i="0" dirty="0">
              <a:solidFill>
                <a:srgbClr val="5F6368"/>
              </a:solidFill>
              <a:latin typeface="Arial"/>
            </a:endParaRPr>
          </a:p>
          <a:p>
            <a:pPr marL="274320" indent="-274320">
              <a:lnSpc>
                <a:spcPct val="200000"/>
              </a:lnSpc>
              <a:spcAft>
                <a:spcPts val="1100"/>
              </a:spcAft>
              <a:buNone/>
            </a:pPr>
            <a:r>
              <a:rPr sz="1550" b="1" i="0" dirty="0">
                <a:solidFill>
                  <a:srgbClr val="0B57D0"/>
                </a:solidFill>
                <a:latin typeface="Arial"/>
              </a:rPr>
              <a:t>▪  </a:t>
            </a:r>
            <a:r>
              <a:rPr sz="1550" b="1" i="0" dirty="0" err="1">
                <a:solidFill>
                  <a:srgbClr val="1A1C1E"/>
                </a:solidFill>
                <a:latin typeface="Arial"/>
              </a:rPr>
              <a:t>Zeitbasierter</a:t>
            </a:r>
            <a:r>
              <a:rPr sz="1550" b="1" i="0" dirty="0">
                <a:solidFill>
                  <a:srgbClr val="1A1C1E"/>
                </a:solidFill>
                <a:latin typeface="Arial"/>
              </a:rPr>
              <a:t> </a:t>
            </a:r>
            <a:r>
              <a:rPr sz="1550" b="1" i="0" dirty="0" err="1">
                <a:solidFill>
                  <a:srgbClr val="1A1C1E"/>
                </a:solidFill>
                <a:latin typeface="Arial"/>
              </a:rPr>
              <a:t>Kontext</a:t>
            </a:r>
            <a:r>
              <a:rPr sz="1550" b="1" i="0" dirty="0">
                <a:solidFill>
                  <a:srgbClr val="1A1C1E"/>
                </a:solidFill>
                <a:latin typeface="Arial"/>
              </a:rPr>
              <a:t>: 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MainService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sendet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DayTimeContext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(Tag = 06–19 Uhr)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bei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jeder</a:t>
            </a:r>
            <a:r>
              <a:rPr sz="1550" b="0" i="0" dirty="0">
                <a:solidFill>
                  <a:srgbClr val="5F6368"/>
                </a:solidFill>
                <a:latin typeface="Arial"/>
              </a:rPr>
              <a:t> </a:t>
            </a:r>
            <a:r>
              <a:rPr sz="1550" b="0" i="0" dirty="0" err="1">
                <a:solidFill>
                  <a:srgbClr val="5F6368"/>
                </a:solidFill>
                <a:latin typeface="Arial"/>
              </a:rPr>
              <a:t>Änderung</a:t>
            </a:r>
            <a:endParaRPr sz="1550" b="0" i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4956048"/>
            <a:ext cx="1871411" cy="56692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956048"/>
            <a:ext cx="187141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57D0"/>
                </a:solidFill>
                <a:latin typeface="Arial"/>
              </a:rPr>
              <a:t>Uhrzeit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0091" y="4956048"/>
            <a:ext cx="274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57D0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4411" y="4956048"/>
            <a:ext cx="1871411" cy="56692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4411" y="4956048"/>
            <a:ext cx="187141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57D0"/>
                </a:solidFill>
                <a:latin typeface="Arial"/>
              </a:rPr>
              <a:t>ContextFeature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5822" y="4956048"/>
            <a:ext cx="274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57D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0142" y="4956048"/>
            <a:ext cx="1871411" cy="56692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0142" y="4956048"/>
            <a:ext cx="187141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57D0"/>
                </a:solidFill>
                <a:latin typeface="Arial"/>
              </a:rPr>
              <a:t>DSL-Regel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553" y="4956048"/>
            <a:ext cx="274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57D0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5873" y="4956048"/>
            <a:ext cx="1871411" cy="56692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05873" y="4956048"/>
            <a:ext cx="187141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57D0"/>
                </a:solidFill>
                <a:latin typeface="Arial"/>
              </a:rPr>
              <a:t>DynamicExecutor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284" y="4956048"/>
            <a:ext cx="274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57D0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1604" y="4956048"/>
            <a:ext cx="1871411" cy="566928"/>
          </a:xfrm>
          <a:prstGeom prst="round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51604" y="4956048"/>
            <a:ext cx="187141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Kartenfarben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87568"/>
            <a:ext cx="104543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1">
                <a:solidFill>
                  <a:srgbClr val="5F6368"/>
                </a:solidFill>
                <a:latin typeface="Arial"/>
              </a:rPr>
              <a:t>Die Karte färbt sich vollautomatisch um – ohne Tastendruck, über die komplette DSL-Kette.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23620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8E9099"/>
                </a:solidFill>
                <a:latin typeface="Arial"/>
              </a:rPr>
              <a:t>CAS-Projekt · Erweiterungen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3620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E909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6692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dirty="0">
                <a:solidFill>
                  <a:srgbClr val="0B57D0"/>
                </a:solidFill>
                <a:latin typeface="Arial"/>
              </a:rPr>
              <a:t>03 · 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33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 i="0" dirty="0">
                <a:solidFill>
                  <a:srgbClr val="1A1C1E"/>
                </a:solidFill>
                <a:latin typeface="Arial"/>
              </a:rPr>
              <a:t>POIs, </a:t>
            </a:r>
            <a:r>
              <a:rPr sz="2900" b="1" i="0" dirty="0" err="1">
                <a:solidFill>
                  <a:srgbClr val="1A1C1E"/>
                </a:solidFill>
                <a:latin typeface="Arial"/>
              </a:rPr>
              <a:t>Suche</a:t>
            </a:r>
            <a:r>
              <a:rPr sz="2900" b="1" i="0" dirty="0">
                <a:solidFill>
                  <a:srgbClr val="1A1C1E"/>
                </a:solidFill>
                <a:latin typeface="Arial"/>
              </a:rPr>
              <a:t> und </a:t>
            </a:r>
            <a:r>
              <a:rPr sz="2900" b="1" i="0" dirty="0" err="1">
                <a:solidFill>
                  <a:srgbClr val="1A1C1E"/>
                </a:solidFill>
                <a:latin typeface="Arial"/>
              </a:rPr>
              <a:t>Standort-Aufzeichnung</a:t>
            </a:r>
            <a:endParaRPr sz="2900" b="1" i="0" dirty="0">
              <a:solidFill>
                <a:srgbClr val="1A1C1E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68680" y="1572768"/>
            <a:ext cx="1234440" cy="4572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975104"/>
            <a:ext cx="4952847" cy="3977639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2728" y="2286000"/>
            <a:ext cx="41847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7D0"/>
                </a:solidFill>
                <a:latin typeface="Arial"/>
              </a:rPr>
              <a:t>POIs &amp; Suche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816352"/>
            <a:ext cx="4184751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POIs aus dem GeoPackage: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alle Gebäude mit amenity-Tag – Kirchen, Tankstellen, Restaurants …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Suche mit Vorschlägen: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zentriert und zoomt die Karte auf den POI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Tap-to-identify: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Antippen wählt den nächsten POI, roter Ring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POI-Detail-Sheet: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Icon, Name, Kategorie, Bewertung, Beschreibung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Eigener POI-Screen: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vollständige Liste aller Orte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0167" y="1975104"/>
            <a:ext cx="4952847" cy="3977639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54215" y="2286000"/>
            <a:ext cx="41847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rgbClr val="0B57D0"/>
                </a:solidFill>
                <a:latin typeface="Arial"/>
              </a:rPr>
              <a:t>Standort &amp; Aufzeichnung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4215" y="2816352"/>
            <a:ext cx="4184751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Walk-Recorder: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Start/Stop im Bottom Sheet mit Live-Statistik zu Distanz, Dauer und Tempo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Breadcrumb-Trail: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die Strecke wird als blaue Spur gezeichnet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Follow-me-Modus: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die Karte folgt der aktuellen Position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Flüssige Animation: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der Punkt gleitet zwischen den Fixes statt zu springen</a:t>
            </a:r>
          </a:p>
          <a:p>
            <a:pPr marL="237744" indent="-237744">
              <a:lnSpc>
                <a:spcPct val="118000"/>
              </a:lnSpc>
              <a:spcAft>
                <a:spcPts val="1000"/>
              </a:spcAft>
              <a:buNone/>
            </a:pPr>
            <a:r>
              <a:rPr sz="1350" b="1" i="0">
                <a:solidFill>
                  <a:srgbClr val="0B57D0"/>
                </a:solidFill>
                <a:latin typeface="Arial"/>
              </a:rPr>
              <a:t>▪  </a:t>
            </a:r>
            <a:r>
              <a:rPr sz="1350" b="1" i="0">
                <a:solidFill>
                  <a:srgbClr val="1A1C1E"/>
                </a:solidFill>
                <a:latin typeface="Arial"/>
              </a:rPr>
              <a:t>Simulierter Spaziergang:  </a:t>
            </a:r>
            <a:r>
              <a:rPr sz="1350" b="0" i="0">
                <a:solidFill>
                  <a:srgbClr val="5F6368"/>
                </a:solidFill>
                <a:latin typeface="Arial"/>
              </a:rPr>
              <a:t>Demo-Position in Hagenberg, überall testbar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23620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8E9099"/>
                </a:solidFill>
                <a:latin typeface="Arial"/>
              </a:rPr>
              <a:t>CAS-Projekt · Erweiterungen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3620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E909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66928"/>
            <a:ext cx="1045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0B57D0"/>
                </a:solidFill>
                <a:latin typeface="Arial"/>
              </a:rPr>
              <a:t>04 ·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454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900" b="1">
                <a:solidFill>
                  <a:srgbClr val="1A1C1E"/>
                </a:solidFill>
                <a:latin typeface="Arial"/>
              </a:rPr>
              <a:t>Fußweg-Navigation zum ausgewählten POI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72768"/>
            <a:ext cx="1234440" cy="4572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75104"/>
            <a:ext cx="10454640" cy="230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>
              <a:lnSpc>
                <a:spcPct val="150000"/>
              </a:lnSpc>
              <a:spcAft>
                <a:spcPts val="1300"/>
              </a:spcAft>
              <a:buNone/>
            </a:pPr>
            <a:r>
              <a:rPr sz="1600" b="1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Route auf </a:t>
            </a:r>
            <a:r>
              <a:rPr sz="1600" b="1" dirty="0" err="1">
                <a:solidFill>
                  <a:srgbClr val="1A1C1E"/>
                </a:solidFill>
                <a:latin typeface="Arial"/>
              </a:rPr>
              <a:t>Knopfdruck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:  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der Button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über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dem Sheet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berechnet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den Weg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vom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aktuellen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Standort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zum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POI</a:t>
            </a:r>
          </a:p>
          <a:p>
            <a:pPr marL="274320" indent="-274320">
              <a:lnSpc>
                <a:spcPct val="150000"/>
              </a:lnSpc>
              <a:spcAft>
                <a:spcPts val="1300"/>
              </a:spcAft>
              <a:buNone/>
            </a:pPr>
            <a:r>
              <a:rPr sz="1600" b="1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Graph </a:t>
            </a:r>
            <a:r>
              <a:rPr sz="1600" b="1" dirty="0" err="1">
                <a:solidFill>
                  <a:srgbClr val="1A1C1E"/>
                </a:solidFill>
                <a:latin typeface="Arial"/>
              </a:rPr>
              <a:t>aus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 den OSM-Linien: 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gemeinsame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Koordinaten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zweier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Wege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ergeben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eine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Kreuzung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–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Brücken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und Tunnel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bleiben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dabei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korrekt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getrennt</a:t>
            </a:r>
            <a:endParaRPr sz="1600" b="0" dirty="0">
              <a:solidFill>
                <a:srgbClr val="5F6368"/>
              </a:solidFill>
              <a:latin typeface="Arial"/>
            </a:endParaRPr>
          </a:p>
          <a:p>
            <a:pPr marL="274320" indent="-274320">
              <a:lnSpc>
                <a:spcPct val="150000"/>
              </a:lnSpc>
              <a:spcAft>
                <a:spcPts val="1300"/>
              </a:spcAft>
              <a:buNone/>
            </a:pPr>
            <a:r>
              <a:rPr sz="1600" b="1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A* </a:t>
            </a:r>
            <a:r>
              <a:rPr sz="1600" b="1" dirty="0" err="1">
                <a:solidFill>
                  <a:srgbClr val="1A1C1E"/>
                </a:solidFill>
                <a:latin typeface="Arial"/>
              </a:rPr>
              <a:t>mit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A1C1E"/>
                </a:solidFill>
                <a:latin typeface="Arial"/>
              </a:rPr>
              <a:t>Luftlinien-Heuristik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: 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findet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garantiert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den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kürzesten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Weg,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prüft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aber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nur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einen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Bruchteil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der Knoten</a:t>
            </a:r>
          </a:p>
          <a:p>
            <a:pPr marL="274320" indent="-274320">
              <a:lnSpc>
                <a:spcPct val="150000"/>
              </a:lnSpc>
              <a:spcAft>
                <a:spcPts val="1300"/>
              </a:spcAft>
              <a:buNone/>
            </a:pPr>
            <a:r>
              <a:rPr sz="1600" b="1" dirty="0">
                <a:solidFill>
                  <a:srgbClr val="0B57D0"/>
                </a:solidFill>
                <a:latin typeface="Arial"/>
              </a:rPr>
              <a:t>▪  </a:t>
            </a:r>
            <a:r>
              <a:rPr sz="1600" b="1" dirty="0" err="1">
                <a:solidFill>
                  <a:srgbClr val="1A1C1E"/>
                </a:solidFill>
                <a:latin typeface="Arial"/>
              </a:rPr>
              <a:t>Echte</a:t>
            </a:r>
            <a:r>
              <a:rPr sz="1600" b="1" dirty="0">
                <a:solidFill>
                  <a:srgbClr val="1A1C1E"/>
                </a:solidFill>
                <a:latin typeface="Arial"/>
              </a:rPr>
              <a:t> Bodenmeter:  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die Mercator-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Verzerrung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wird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herausgerechnet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daher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stimmen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Distanz</a:t>
            </a:r>
            <a:r>
              <a:rPr sz="1600" b="0" dirty="0">
                <a:solidFill>
                  <a:srgbClr val="5F6368"/>
                </a:solidFill>
                <a:latin typeface="Arial"/>
              </a:rPr>
              <a:t> und </a:t>
            </a:r>
            <a:r>
              <a:rPr sz="1600" b="0" dirty="0" err="1">
                <a:solidFill>
                  <a:srgbClr val="5F6368"/>
                </a:solidFill>
                <a:latin typeface="Arial"/>
              </a:rPr>
              <a:t>Gehzeit</a:t>
            </a:r>
            <a:endParaRPr sz="1600" b="0" dirty="0">
              <a:solidFill>
                <a:srgbClr val="5F6368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6236208"/>
            <a:ext cx="1045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>
                <a:solidFill>
                  <a:srgbClr val="8E9099"/>
                </a:solidFill>
                <a:latin typeface="Arial"/>
              </a:rPr>
              <a:t>CAS-Projekt · Erweiterungen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236208"/>
            <a:ext cx="1045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>
                <a:solidFill>
                  <a:srgbClr val="8E909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F7C343-04BA-B3AB-729E-D88A136253BD}"/>
              </a:ext>
            </a:extLst>
          </p:cNvPr>
          <p:cNvSpPr/>
          <p:nvPr/>
        </p:nvSpPr>
        <p:spPr>
          <a:xfrm>
            <a:off x="868680" y="2212848"/>
            <a:ext cx="77724" cy="1847088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3F9AAA-5383-0A57-AE47-AAC355ED12C8}"/>
              </a:ext>
            </a:extLst>
          </p:cNvPr>
          <p:cNvSpPr txBox="1"/>
          <p:nvPr/>
        </p:nvSpPr>
        <p:spPr>
          <a:xfrm>
            <a:off x="1161288" y="2462711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A8C7FA"/>
                </a:solidFill>
                <a:latin typeface="Arial"/>
              </a:rPr>
              <a:t>Location and Context aware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D0E7F-5D19-75A0-6BFB-8B9DD861B59D}"/>
              </a:ext>
            </a:extLst>
          </p:cNvPr>
          <p:cNvSpPr txBox="1"/>
          <p:nvPr/>
        </p:nvSpPr>
        <p:spPr>
          <a:xfrm>
            <a:off x="1161288" y="2919911"/>
            <a:ext cx="9144000" cy="902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GB" sz="6000" b="1" i="0" dirty="0">
                <a:latin typeface="Arial"/>
              </a:rPr>
              <a:t>Live Demo</a:t>
            </a:r>
            <a:endParaRPr sz="6000" b="0" i="0" dirty="0">
              <a:solidFill>
                <a:srgbClr val="D3E3FD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52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460</Words>
  <Application>Microsoft Macintosh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niklasetzlinger.help@outlook.com</cp:lastModifiedBy>
  <cp:revision>1</cp:revision>
  <dcterms:created xsi:type="dcterms:W3CDTF">2013-01-27T09:14:16Z</dcterms:created>
  <dcterms:modified xsi:type="dcterms:W3CDTF">2026-07-20T12:38:18Z</dcterms:modified>
  <cp:category/>
</cp:coreProperties>
</file>